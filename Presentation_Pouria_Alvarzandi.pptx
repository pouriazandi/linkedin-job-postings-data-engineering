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8" r:id="rId2"/>
    <p:sldId id="279" r:id="rId3"/>
    <p:sldId id="269" r:id="rId4"/>
    <p:sldId id="271" r:id="rId5"/>
    <p:sldId id="272" r:id="rId6"/>
    <p:sldId id="273" r:id="rId7"/>
    <p:sldId id="274" r:id="rId8"/>
    <p:sldId id="275" r:id="rId9"/>
    <p:sldId id="280" r:id="rId10"/>
    <p:sldId id="278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8" r:id="rId28"/>
    <p:sldId id="299" r:id="rId29"/>
    <p:sldId id="300" r:id="rId30"/>
    <p:sldId id="301" r:id="rId31"/>
    <p:sldId id="30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4FB8F-ED15-48AB-97BD-17129D4E699D}" type="datetimeFigureOut">
              <a:rPr lang="en-US" smtClean="0"/>
              <a:t>6/15/2024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B3739-9081-478F-812E-AE7CE1406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9D437-CD83-4825-AD0D-5E7B341BC79B}" type="datetimeFigureOut">
              <a:rPr lang="en-US" smtClean="0"/>
              <a:t>6/15/2024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CF8BB-EBC7-4B8F-9632-A5A136FBB8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755780"/>
            <a:ext cx="6858000" cy="3200400"/>
          </a:xfrm>
        </p:spPr>
        <p:txBody>
          <a:bodyPr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465DD-9819-4ABC-A784-477AFBA19C86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9729644A-97F2-4BC4-BBF7-FC141F507563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04EB7-77EC-481E-BDC6-73CA182AC952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6069-A392-4E44-934F-6743D63E2A4F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F9843-3551-47D6-BD3E-346FBDF458AF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C2989-19D5-42F7-8321-FE6B75231AF4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C03C-1F27-412D-AD0B-6423348F1B9B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1E545-DA4D-4588-A168-A47EEF327FC2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042-7092-4D96-B3CE-E8E6CFEE88C8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619CFDC2-5630-4611-9BF0-0EF7C8C4398D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Implementation of LinkedIn Job Postings (2023 - 2024)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86197-88D5-7CB2-8448-88BCDB5E681A}"/>
              </a:ext>
            </a:extLst>
          </p:cNvPr>
          <p:cNvSpPr txBox="1"/>
          <p:nvPr/>
        </p:nvSpPr>
        <p:spPr>
          <a:xfrm>
            <a:off x="752474" y="5053460"/>
            <a:ext cx="5838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Professors: José Ramón Rios Viqueira</a:t>
            </a:r>
            <a:br>
              <a:rPr lang="en-US" dirty="0"/>
            </a:br>
            <a:r>
              <a:rPr lang="en-US" dirty="0"/>
              <a:t>	   </a:t>
            </a:r>
            <a:r>
              <a:rPr lang="en-US" dirty="0" err="1"/>
              <a:t>Anália</a:t>
            </a:r>
            <a:r>
              <a:rPr lang="en-US" dirty="0"/>
              <a:t> Maria Garcia Lourenço</a:t>
            </a:r>
            <a:br>
              <a:rPr lang="en-US" dirty="0"/>
            </a:br>
            <a:r>
              <a:rPr lang="en-US" dirty="0"/>
              <a:t>	   Guillermo de Bernardo Roca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4D110-F304-59B2-2BC3-4ADB5AC410CD}"/>
              </a:ext>
            </a:extLst>
          </p:cNvPr>
          <p:cNvSpPr txBox="1"/>
          <p:nvPr/>
        </p:nvSpPr>
        <p:spPr>
          <a:xfrm>
            <a:off x="752474" y="6157855"/>
            <a:ext cx="407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Collector: Pouria Alvarzandi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B9A0-8762-7F27-303B-503CBCB6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0049-B55C-9C84-861B-998444FBF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7420"/>
            <a:ext cx="9372600" cy="1670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Every day, thousands of companies and individuals use LinkedIn to find talent. This dataset includes over 124,000 job postings from 2023 and 2024, detailing along with company information.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87182B-9670-8A95-AA2F-46DE4D61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730" y="3252976"/>
            <a:ext cx="6532469" cy="32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21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For</a:t>
            </a:r>
            <a:r>
              <a:rPr lang="es-ES" dirty="0"/>
              <a:t> </a:t>
            </a:r>
            <a:r>
              <a:rPr lang="en-US" dirty="0"/>
              <a:t>users find the best jobs suited to their conditions </a:t>
            </a:r>
            <a:endParaRPr lang="fa-IR" dirty="0"/>
          </a:p>
          <a:p>
            <a:r>
              <a:rPr lang="en-US" dirty="0"/>
              <a:t>For companies find ways to advance their goals</a:t>
            </a:r>
          </a:p>
          <a:p>
            <a:r>
              <a:rPr lang="en-US" dirty="0"/>
              <a:t>For assist researchers and journalists in using the data for articles</a:t>
            </a:r>
          </a:p>
        </p:txBody>
      </p:sp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postings.csv</a:t>
            </a:r>
          </a:p>
          <a:p>
            <a:pPr marL="0" indent="0">
              <a:buNone/>
            </a:pPr>
            <a:r>
              <a:rPr lang="en-US" dirty="0"/>
              <a:t>	benefits.csv</a:t>
            </a:r>
            <a:br>
              <a:rPr lang="en-US" dirty="0"/>
            </a:br>
            <a:r>
              <a:rPr lang="en-US" dirty="0"/>
              <a:t>	job_industries.csv</a:t>
            </a:r>
            <a:br>
              <a:rPr lang="en-US" dirty="0"/>
            </a:br>
            <a:r>
              <a:rPr lang="en-US" dirty="0"/>
              <a:t>	job_skills.csv</a:t>
            </a:r>
            <a:br>
              <a:rPr lang="en-US" dirty="0"/>
            </a:br>
            <a:r>
              <a:rPr lang="en-US" dirty="0"/>
              <a:t>	salaries.csv</a:t>
            </a:r>
            <a:br>
              <a:rPr lang="en-US" dirty="0"/>
            </a:br>
            <a:r>
              <a:rPr lang="en-US" dirty="0"/>
              <a:t>	industries.csv</a:t>
            </a:r>
            <a:br>
              <a:rPr lang="en-US" dirty="0"/>
            </a:br>
            <a:r>
              <a:rPr lang="en-US" dirty="0"/>
              <a:t>	skills.csv</a:t>
            </a:r>
          </a:p>
          <a:p>
            <a:r>
              <a:rPr lang="en-US" dirty="0"/>
              <a:t>companies.csv</a:t>
            </a:r>
          </a:p>
          <a:p>
            <a:pPr marL="0" indent="0">
              <a:buNone/>
            </a:pPr>
            <a:r>
              <a:rPr lang="en-US" dirty="0"/>
              <a:t>	company_industries.csv</a:t>
            </a:r>
            <a:br>
              <a:rPr lang="en-US" dirty="0"/>
            </a:br>
            <a:r>
              <a:rPr lang="en-US" dirty="0"/>
              <a:t>	company_specialities.csv</a:t>
            </a:r>
            <a:br>
              <a:rPr lang="en-US" dirty="0"/>
            </a:br>
            <a:r>
              <a:rPr lang="en-US" dirty="0"/>
              <a:t>	employee_counts.csv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E701C2-7DD9-840C-A263-1BEB7C90B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981200"/>
            <a:ext cx="2423370" cy="1798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57B784-3AA0-2C2F-77F8-7311EF6D6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870" y="1851764"/>
            <a:ext cx="2027096" cy="1425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3E3B0-F366-8DD8-02DC-B88E81905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3497517"/>
            <a:ext cx="2057578" cy="1447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348145-EEAD-88F3-0959-D0FFA6C182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70" y="3497517"/>
            <a:ext cx="2080440" cy="12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relationships of Data sources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F6E37-8647-7EC8-08F7-846ED370D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70" y="1881124"/>
            <a:ext cx="7211502" cy="446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6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22960"/>
            <a:ext cx="9846365" cy="1097280"/>
          </a:xfrm>
        </p:spPr>
        <p:txBody>
          <a:bodyPr>
            <a:normAutofit/>
          </a:bodyPr>
          <a:lstStyle/>
          <a:p>
            <a:r>
              <a:rPr lang="en-US" sz="4400" dirty="0"/>
              <a:t>Materials and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25429"/>
            <a:ext cx="10641496" cy="3297804"/>
          </a:xfrm>
        </p:spPr>
        <p:txBody>
          <a:bodyPr>
            <a:normAutofit/>
          </a:bodyPr>
          <a:lstStyle/>
          <a:p>
            <a:r>
              <a:rPr lang="en-US" sz="2400" dirty="0"/>
              <a:t>- Which jobs are remote?</a:t>
            </a:r>
          </a:p>
          <a:p>
            <a:r>
              <a:rPr lang="en-US" sz="2400" dirty="0"/>
              <a:t>- What benefits do the jobs offer?</a:t>
            </a:r>
          </a:p>
          <a:p>
            <a:r>
              <a:rPr lang="en-US" sz="2400" dirty="0"/>
              <a:t>- What is the payment structure for the jobs?</a:t>
            </a:r>
          </a:p>
          <a:p>
            <a:r>
              <a:rPr lang="en-US" sz="2400" dirty="0"/>
              <a:t>- What skills are required for the jobs?</a:t>
            </a:r>
          </a:p>
          <a:p>
            <a:r>
              <a:rPr lang="en-US" sz="2400" dirty="0"/>
              <a:t>- What type of work needs to be done for each job?</a:t>
            </a:r>
          </a:p>
          <a:p>
            <a:r>
              <a:rPr lang="en-US" sz="2400" dirty="0"/>
              <a:t>- What is the specialization of each company?</a:t>
            </a:r>
          </a:p>
          <a:p>
            <a:r>
              <a:rPr lang="en-US" sz="2400" dirty="0"/>
              <a:t>- Where are the companies located in terms of city, state, and country?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1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 and 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Postings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Benefits</a:t>
            </a:r>
          </a:p>
          <a:p>
            <a:r>
              <a:rPr lang="en-US" sz="1800" dirty="0" err="1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Experience_Level</a:t>
            </a:r>
            <a:endParaRPr lang="en-US" sz="1800" dirty="0">
              <a:solidFill>
                <a:srgbClr val="1F1F1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Pay_Period</a:t>
            </a:r>
            <a:endParaRPr lang="en-US" sz="1800" dirty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Skills</a:t>
            </a:r>
            <a:endParaRPr lang="en-US" sz="1800" dirty="0">
              <a:solidFill>
                <a:srgbClr val="1F1F1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Work_Type</a:t>
            </a:r>
            <a:endParaRPr lang="en-US" sz="1800" dirty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Company_Details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Companies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Specialties</a:t>
            </a:r>
          </a:p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City</a:t>
            </a:r>
            <a:endParaRPr lang="en-US" sz="1800" dirty="0">
              <a:solidFill>
                <a:srgbClr val="1F1F1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State</a:t>
            </a:r>
          </a:p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Country</a:t>
            </a:r>
            <a:endParaRPr lang="en-US" sz="1800" dirty="0">
              <a:solidFill>
                <a:srgbClr val="1F1F1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Industries</a:t>
            </a:r>
          </a:p>
          <a:p>
            <a:r>
              <a:rPr lang="en-US" sz="1800" dirty="0" err="1">
                <a:solidFill>
                  <a:srgbClr val="1F1F1F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Specialities</a:t>
            </a:r>
            <a:endParaRPr lang="en-US" sz="1800" dirty="0">
              <a:solidFill>
                <a:srgbClr val="1F1F1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Company_Details</a:t>
            </a:r>
            <a:endParaRPr lang="en-US" sz="1800" dirty="0">
              <a:solidFill>
                <a:srgbClr val="1F1F1F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89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823" y="192741"/>
            <a:ext cx="9372600" cy="1295400"/>
          </a:xfrm>
        </p:spPr>
        <p:txBody>
          <a:bodyPr/>
          <a:lstStyle/>
          <a:p>
            <a:r>
              <a:rPr lang="en-US" dirty="0"/>
              <a:t>The overall schema design of the data warehouse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02165-B035-EF3B-A661-939E984B6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968" y="1676400"/>
            <a:ext cx="10425063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0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B67D-6B72-AC6F-6718-E466BA17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91" y="634701"/>
            <a:ext cx="8686800" cy="1097280"/>
          </a:xfrm>
        </p:spPr>
        <p:txBody>
          <a:bodyPr>
            <a:normAutofit/>
          </a:bodyPr>
          <a:lstStyle/>
          <a:p>
            <a:r>
              <a:rPr lang="en-US" sz="4400" dirty="0"/>
              <a:t>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D1400-6F9C-A60B-F771-18EB6E907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91" y="2099144"/>
            <a:ext cx="8435009" cy="3755004"/>
          </a:xfrm>
        </p:spPr>
        <p:txBody>
          <a:bodyPr>
            <a:normAutofit/>
          </a:bodyPr>
          <a:lstStyle/>
          <a:p>
            <a:r>
              <a:rPr lang="en-US" sz="2400" dirty="0"/>
              <a:t>First: Implementation of Dimensions</a:t>
            </a:r>
          </a:p>
          <a:p>
            <a:endParaRPr lang="en-US" sz="2400" dirty="0"/>
          </a:p>
          <a:p>
            <a:r>
              <a:rPr lang="en-US" sz="2400" dirty="0"/>
              <a:t>Second: Implementation of Companies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Third: Implementation of </a:t>
            </a:r>
            <a:r>
              <a:rPr lang="en-US" sz="2400" dirty="0" err="1"/>
              <a:t>Company_Details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Forth: Implementation of Postings</a:t>
            </a:r>
          </a:p>
        </p:txBody>
      </p:sp>
    </p:spTree>
    <p:extLst>
      <p:ext uri="{BB962C8B-B14F-4D97-AF65-F5344CB8AC3E}">
        <p14:creationId xmlns:p14="http://schemas.microsoft.com/office/powerpoint/2010/main" val="153487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overall workflow of this project, which is implemented as a job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6927C9-DCA4-D1C1-CDFE-8E0847FCB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0" y="2743085"/>
            <a:ext cx="6005080" cy="13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49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6158-C3F1-6929-2475-E9910627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LoadDimensions</a:t>
            </a:r>
            <a:r>
              <a:rPr lang="en-US" dirty="0"/>
              <a:t>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22F70-7853-40E4-678B-212596CB5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all the dimension tables related Postings are implemented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00F99-91F0-92D7-19C9-FD9011EC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8106"/>
            <a:ext cx="6107886" cy="322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B9FA-74A4-5DF6-1261-B74EAA961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LoadDimensions</a:t>
            </a:r>
            <a:r>
              <a:rPr lang="en-US" dirty="0"/>
              <a:t>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BF321-59F3-5E05-9789-A5386C9DE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all the dimension tables related Companies are implemented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F914F-22C0-6C3D-0B25-6D9883F17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045"/>
            <a:ext cx="6096000" cy="36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5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BC76E-B5A7-3DBE-BD3C-4B521434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942" y="411480"/>
            <a:ext cx="5635753" cy="1828800"/>
          </a:xfrm>
        </p:spPr>
        <p:txBody>
          <a:bodyPr/>
          <a:lstStyle/>
          <a:p>
            <a:r>
              <a:rPr lang="en-US" dirty="0" err="1"/>
              <a:t>LoadFactCompanies</a:t>
            </a:r>
            <a:r>
              <a:rPr lang="en-US" dirty="0"/>
              <a:t>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E28EB-B931-BEE9-5DD7-44E8C8AD0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37942" y="2244256"/>
            <a:ext cx="4799140" cy="469127"/>
          </a:xfrm>
        </p:spPr>
        <p:txBody>
          <a:bodyPr/>
          <a:lstStyle/>
          <a:p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Companies fact table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C194F1-8D1E-A270-2BF7-EAC7F984D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9104"/>
            <a:ext cx="6102214" cy="345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2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5B66-FE64-2459-E863-1D56EC761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84048"/>
            <a:ext cx="5950226" cy="1828800"/>
          </a:xfrm>
        </p:spPr>
        <p:txBody>
          <a:bodyPr/>
          <a:lstStyle/>
          <a:p>
            <a:r>
              <a:rPr lang="en-US" sz="4000" dirty="0" err="1"/>
              <a:t>LoadRelationDimension</a:t>
            </a:r>
            <a:r>
              <a:rPr lang="en-US" sz="4000" dirty="0"/>
              <a:t>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8105-E9B7-B1F9-6444-55DB86387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Companies_Details</a:t>
            </a:r>
            <a:r>
              <a:rPr lang="en-US" dirty="0"/>
              <a:t> - intermediate table between companies and postings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B0254-70A9-DF16-82CE-2CD019AE1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3" y="3348963"/>
            <a:ext cx="6081287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C84C-9743-FDCA-BCC4-72DD48BB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247" y="384048"/>
            <a:ext cx="5231561" cy="1828800"/>
          </a:xfrm>
        </p:spPr>
        <p:txBody>
          <a:bodyPr/>
          <a:lstStyle/>
          <a:p>
            <a:r>
              <a:rPr lang="en-US" dirty="0" err="1"/>
              <a:t>LoadFactPostings</a:t>
            </a:r>
            <a:r>
              <a:rPr lang="en-US" dirty="0"/>
              <a:t>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9349D-FC6C-1D4F-5726-9108B1207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Postings fact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44A80-D8F0-0849-CE28-924920788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86566"/>
            <a:ext cx="6084326" cy="35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9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7518-3215-B9A7-096A-10E2AD42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883024"/>
          </a:xfrm>
        </p:spPr>
        <p:txBody>
          <a:bodyPr/>
          <a:lstStyle/>
          <a:p>
            <a:r>
              <a:rPr lang="en-US" dirty="0"/>
              <a:t>Analytical Queries and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AF056-E828-5F62-D5A4-C7173C6A8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37012"/>
            <a:ext cx="4318386" cy="3554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7240D-EDBB-97AC-936B-3819DDD7D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30" y="2167012"/>
            <a:ext cx="6854820" cy="300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3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9566-69F5-3D36-5774-67EB9CAD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965" y="437731"/>
            <a:ext cx="9372600" cy="676835"/>
          </a:xfrm>
        </p:spPr>
        <p:txBody>
          <a:bodyPr/>
          <a:lstStyle/>
          <a:p>
            <a:r>
              <a:rPr lang="en-US" dirty="0"/>
              <a:t>examples of reports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8E12EA-6E90-52EF-E107-2E88E2F378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883" y="1278434"/>
            <a:ext cx="2863805" cy="16830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FB6A6F-8C2D-F0E5-2FB9-B1A7BEF18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947" y="1251708"/>
            <a:ext cx="2863806" cy="1691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4E67A-DC5B-C54F-1FAD-63D38F7561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270" y="1303935"/>
            <a:ext cx="2863806" cy="16575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057A9D-8187-88DA-E0F0-2F64FFB7AA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919" y="3056878"/>
            <a:ext cx="2863805" cy="16718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787603-5EFF-C499-E0AB-44498E87B8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572" y="3101529"/>
            <a:ext cx="2840603" cy="1671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1CF048-B8B5-9557-807E-BA78C5D6E5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71" y="3064234"/>
            <a:ext cx="2840603" cy="16645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BC2B9C-983A-8002-E36B-0F813A024D9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085" y="4958447"/>
            <a:ext cx="2840603" cy="16695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2D20AE-64FA-900E-CC5A-5DB065E03C7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85" y="4958447"/>
            <a:ext cx="3406588" cy="15376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105351A-5ED0-C3E6-667F-4447B9D0139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270" y="4901547"/>
            <a:ext cx="3086290" cy="159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011269" cy="118872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companies offer remote work services?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53A2C6-F67A-A8BC-2C7C-6FBBFD80E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447"/>
            <a:ext cx="6096000" cy="358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9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17868"/>
            <a:ext cx="6051175" cy="1188720"/>
          </a:xfrm>
        </p:spPr>
        <p:txBody>
          <a:bodyPr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jobs are remote and have a monthly income of over $1400?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B2760-C829-399E-BE24-0A24E4983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107"/>
            <a:ext cx="6051175" cy="35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2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188720"/>
          </a:xfrm>
        </p:spPr>
        <p:txBody>
          <a:bodyPr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 registered jobs contract with their employees?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8E8E8-7D4C-9A95-B241-871C5D624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871"/>
            <a:ext cx="6096000" cy="35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5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188720"/>
          </a:xfrm>
        </p:spPr>
        <p:txBody>
          <a:bodyPr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jobs have had more than 50 applicants?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63C03-3C27-DA76-A7FE-A2AA46393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226"/>
            <a:ext cx="6096000" cy="355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828800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jobs have been viewed more than 1000 times?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B36FBF-3CAE-00E9-1EAE-5D0C5E3B9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038"/>
            <a:ext cx="6099973" cy="359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2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jobs have a monthly income between $4000 and $10000?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AAFDA-8925-0FC9-D350-D18475AFF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4989"/>
            <a:ext cx="6096000" cy="357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6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are the largest companies in Spain?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3D54CE-E879-16C9-79F4-68A298505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" y="1564506"/>
            <a:ext cx="6093130" cy="358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3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 companies vary based on city or country?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32149-8E9B-6C58-CB97-3E0F194B2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048"/>
            <a:ext cx="6096000" cy="27515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0C7D3C-0CE3-4BE3-728F-55AAA62018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9"/>
            <a:ext cx="6096000" cy="278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9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are jobs based on the method of salary payment?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1707E1-8E4D-361C-5709-4DCAB924A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0486"/>
            <a:ext cx="6096000" cy="357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4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Which companies are in Spain?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57F24-C131-B87B-D204-72AECC8AE5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854230"/>
            <a:ext cx="6096001" cy="314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D793-C6AC-C451-8E90-3499DAC0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</a:t>
            </a:r>
            <a:r>
              <a:rPr lang="fa-IR" dirty="0"/>
              <a:t> </a:t>
            </a:r>
            <a:r>
              <a:rPr lang="en-US" dirty="0"/>
              <a:t>reports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9AC16-B4FA-17D2-7884-AEA102A90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6248" y="2240280"/>
            <a:ext cx="5262281" cy="1363532"/>
          </a:xfrm>
        </p:spPr>
        <p:txBody>
          <a:bodyPr>
            <a:no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benefits does each job offer?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05B64-2EEA-F944-82D5-084C4044A1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4203"/>
            <a:ext cx="6096000" cy="318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5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4D70-6B73-D23A-3CB3-73EA72B0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676B0-36D4-6B3C-5A20-1654D255C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80" y="1977668"/>
            <a:ext cx="10204064" cy="39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2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B652-0DFE-B815-FBA7-44620BF6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0E8E8-00C7-A196-732F-8559FF0D8969}"/>
              </a:ext>
            </a:extLst>
          </p:cNvPr>
          <p:cNvSpPr txBox="1"/>
          <p:nvPr/>
        </p:nvSpPr>
        <p:spPr>
          <a:xfrm>
            <a:off x="1264024" y="1765831"/>
            <a:ext cx="10927976" cy="1294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F1F1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project successfully demonstrates the implementation of an ETL process and the establishment of a data warehouse for LinkedIn post analysis. The project provides a valuable framework for organizations seeking to leverage LinkedIn data for strategic advantage.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26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0962F6-A7E4-B5CB-40B2-83AA6072286E}"/>
              </a:ext>
            </a:extLst>
          </p:cNvPr>
          <p:cNvSpPr txBox="1"/>
          <p:nvPr/>
        </p:nvSpPr>
        <p:spPr>
          <a:xfrm>
            <a:off x="3048000" y="32443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Thank 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716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reframe Building 16x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wireframe building presentation (widescreen).potx" id="{58CE74E2-616B-447D-963B-87527DA5909A}" vid="{49D84436-E293-416F-BC4D-7976A1E115A4}"/>
    </a:ext>
  </a:extLst>
</a:theme>
</file>

<file path=ppt/theme/theme2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wireframe building presentation (widescreen)</Template>
  <TotalTime>930</TotalTime>
  <Words>548</Words>
  <Application>Microsoft Office PowerPoint</Application>
  <PresentationFormat>Widescreen</PresentationFormat>
  <Paragraphs>88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Wireframe Building 16x9</vt:lpstr>
      <vt:lpstr>Data engineering</vt:lpstr>
      <vt:lpstr>About Dataset</vt:lpstr>
      <vt:lpstr>Project Goals</vt:lpstr>
      <vt:lpstr>Data Sources</vt:lpstr>
      <vt:lpstr>The relationships of Data sources</vt:lpstr>
      <vt:lpstr>Materials and Methods</vt:lpstr>
      <vt:lpstr>Materials and Methods</vt:lpstr>
      <vt:lpstr>The overall schema design of the data warehouse tables</vt:lpstr>
      <vt:lpstr>Workflow</vt:lpstr>
      <vt:lpstr>overall workflow</vt:lpstr>
      <vt:lpstr>LoadDimensions Implementation</vt:lpstr>
      <vt:lpstr>LoadDimensions Implementation</vt:lpstr>
      <vt:lpstr>LoadFactCompanies Implementation</vt:lpstr>
      <vt:lpstr>LoadRelationDimension Implementation</vt:lpstr>
      <vt:lpstr>LoadFactPostings Implementation</vt:lpstr>
      <vt:lpstr>Analytical Queries and Results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examples of reports</vt:lpstr>
      <vt:lpstr>Discussion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Pouria Zandi</dc:creator>
  <cp:lastModifiedBy>Pouria Zandi</cp:lastModifiedBy>
  <cp:revision>22</cp:revision>
  <dcterms:created xsi:type="dcterms:W3CDTF">2024-06-14T13:41:52Z</dcterms:created>
  <dcterms:modified xsi:type="dcterms:W3CDTF">2024-06-15T12:28:20Z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